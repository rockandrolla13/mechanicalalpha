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HFT (concave)</c:v>
                </c:pt>
              </c:strCache>
            </c:strRef>
          </c:tx>
          <c:spPr>
            <a:solidFill>
              <a:srgbClr val="E8B84B"/>
            </a:solidFill>
            <a:ln w="31750" cap="flat">
              <a:solidFill>
                <a:srgbClr val="E8B8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B84B"/>
              </a:solidFill>
              <a:ln w="9525" cap="flat">
                <a:solidFill>
                  <a:srgbClr val="E8B8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/>
                  </c:pt>
                  <c:pt idx="1">
                    <c:v> </c:v>
                  </c:pt>
                  <c:pt idx="2">
                    <c:v>  </c:v>
                  </c:pt>
                  <c:pt idx="3">
                    <c:v>   </c:v>
                  </c:pt>
                  <c:pt idx="4">
                    <c:v>    </c:v>
                  </c:pt>
                  <c:pt idx="5">
                    <c:v>     </c:v>
                  </c:pt>
                  <c:pt idx="6">
                    <c:v>      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52</c:v>
                </c:pt>
                <c:pt idx="2">
                  <c:v>76</c:v>
                </c:pt>
                <c:pt idx="3">
                  <c:v>88</c:v>
                </c:pt>
                <c:pt idx="4">
                  <c:v>95</c:v>
                </c:pt>
                <c:pt idx="5">
                  <c:v>98</c:v>
                </c:pt>
                <c:pt idx="6">
                  <c:v>100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Credit (linear)</c:v>
                </c:pt>
              </c:strCache>
            </c:strRef>
          </c:tx>
          <c:spPr>
            <a:solidFill>
              <a:srgbClr val="7FA8E8"/>
            </a:solidFill>
            <a:ln w="31750" cap="flat">
              <a:solidFill>
                <a:srgbClr val="7FA8E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FA8E8"/>
              </a:solidFill>
              <a:ln w="9525" cap="flat">
                <a:solidFill>
                  <a:srgbClr val="7FA8E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/>
                  </c:pt>
                  <c:pt idx="1">
                    <c:v> </c:v>
                  </c:pt>
                  <c:pt idx="2">
                    <c:v>  </c:v>
                  </c:pt>
                  <c:pt idx="3">
                    <c:v>   </c:v>
                  </c:pt>
                  <c:pt idx="4">
                    <c:v>    </c:v>
                  </c:pt>
                  <c:pt idx="5">
                    <c:v>     </c:v>
                  </c:pt>
                  <c:pt idx="6">
                    <c:v>      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13</c:v>
                </c:pt>
                <c:pt idx="2">
                  <c:v>26</c:v>
                </c:pt>
                <c:pt idx="3">
                  <c:v>39</c:v>
                </c:pt>
                <c:pt idx="4">
                  <c:v>52</c:v>
                </c:pt>
                <c:pt idx="5">
                  <c:v>65</c:v>
                </c:pt>
                <c:pt idx="6">
                  <c:v>78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22C63"/>
        </a:solidFill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CADCF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222C63"/>
    </a:solidFill>
    <a:ln w="12700" cap="flat">
      <a:solidFill>
        <a:srgbClr val="363636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speaker notes: (1) Normal times: equity/options lead single-name credit (Merton channel) — our existing franchise is the informed side. (2) Systemic stress: the lead-lag inverts — credit and funding QUANTITIES lead all prices. Dang–Gorton–Holmström: debt is designed to be information-insensitive; a crisis is the regime switch to information-sensitivity, and it shows up first in haircuts, baskets, bases and inventory — channels only plumbing owners observe. (3) March 2020 is the proof: stale NAVs vs. live ETF prices; the Fed sided with the ETF price and bought through SMCCF; O’Hara–Zhou show electronic/PT liquidity was best-informed and best-paid. (4) Implication: judge the desk on enterprise marginal ROE — its information externality to equities/options/ETF pricing plus its role as the firm’s early-warning system in exactly the states where every other desk’s risk model is most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112745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is where our next dollar of capital earns the most</a:t>
            </a:r>
            <a:pPr algn="l" indent="0" marL="0">
              <a:buNone/>
            </a:pPr>
            <a:r>
              <a:rPr lang="en-US" sz="2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we arrive with an information edge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HFT ROE is high on average but ~zero at the margin; credit revenue is linear in balance sheet — and the seat banks vacated is being won by firms with exactly our skill set.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3575304" cy="3520440"/>
          </a:xfrm>
          <a:prstGeom prst="roundRect">
            <a:avLst>
              <a:gd name="adj" fmla="val 2078"/>
            </a:avLst>
          </a:prstGeom>
          <a:solidFill>
            <a:srgbClr val="222C6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408176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4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CAPITAL: MARGINAL ≠ AVERAGE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792224"/>
            <a:ext cx="319125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HFT revenue is concave in capital — queue- and capacity-bound; the marginal dollar earns ≈ 0</a:t>
            </a:r>
            <a:endParaRPr lang="en-US" sz="10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revenue ≈ spread × turnover × balance sheet — linear at any entrant’s scale ($11.7tn market, ~$67bn ADV — SIFMA)</a:t>
            </a:r>
            <a:endParaRPr lang="en-US" sz="10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Low-correlation sleeve lifts firm Sharpe → cheaper leverage for every desk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072384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vs. capital deployed</a:t>
            </a:r>
            <a:endParaRPr lang="en-US" sz="8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58368" y="3273552"/>
          <a:ext cx="3118104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4306824" y="1261872"/>
            <a:ext cx="3575304" cy="3520440"/>
          </a:xfrm>
          <a:prstGeom prst="roundRect">
            <a:avLst>
              <a:gd name="adj" fmla="val 2078"/>
            </a:avLst>
          </a:prstGeom>
          <a:solidFill>
            <a:srgbClr val="222C6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07992" y="1408176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4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THE OPEN SEAT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4507992" y="1792224"/>
            <a:ext cx="319125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inventories down ~80% since ’08 while the market doubled (Basel III / SLR / G-SIB costs)</a:t>
            </a:r>
            <a:endParaRPr lang="en-US" sz="10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block: negative-NPV on a bank balance sheet, positive-NPV on ours — durable, not decaying</a:t>
            </a:r>
            <a:endParaRPr lang="en-US" sz="10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shifting to RFQ auto-quote, baskets, all-to-all — equity microstructure in a credit costume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07992" y="3474720"/>
            <a:ext cx="3172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4600" dirty="0"/>
          </a:p>
        </p:txBody>
      </p:sp>
      <p:sp>
        <p:nvSpPr>
          <p:cNvPr id="13" name="Text 10"/>
          <p:cNvSpPr txBox="1"/>
          <p:nvPr/>
        </p:nvSpPr>
        <p:spPr>
          <a:xfrm>
            <a:off x="4507992" y="4133088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 IG volume now trades electronically (vs. ⅓ in 2020); portfolio trading ≈ 18% of volume, ~80% of it electronic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156448" y="1261872"/>
            <a:ext cx="3575304" cy="3520440"/>
          </a:xfrm>
          <a:prstGeom prst="roundRect">
            <a:avLst>
              <a:gd name="adj" fmla="val 2078"/>
            </a:avLst>
          </a:prstGeom>
          <a:solidFill>
            <a:srgbClr val="222C6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357616" y="1408176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4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INFORMATION: WE START AHEAD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8357616" y="1792224"/>
            <a:ext cx="319125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+ vol surface hold the freshest estimate of latent firm value; bond marks print stale, hours late</a:t>
            </a:r>
            <a:endParaRPr lang="en-US" sz="10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 create/redeem = signal, hedge &amp; inventory tool — baskets overlap holdings just 20–35% (BIS)</a:t>
            </a:r>
            <a:endParaRPr lang="en-US" sz="10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Quoting 25k bonds off a factor model ≅ quoting a vol surface — the infrastructure transfers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8357616" y="3474720"/>
            <a:ext cx="3172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17×</a:t>
            </a:r>
            <a:endParaRPr lang="en-US" sz="4600" dirty="0"/>
          </a:p>
        </p:txBody>
      </p:sp>
      <p:sp>
        <p:nvSpPr>
          <p:cNvPr id="18" name="Text 15"/>
          <p:cNvSpPr txBox="1"/>
          <p:nvPr/>
        </p:nvSpPr>
        <p:spPr>
          <a:xfrm>
            <a:off x="8357616" y="4133088"/>
            <a:ext cx="3172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bid/ask on underlying bonds vs. the credit ETF (BIS) — price discovery happens on exchanges we already dominate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" y="4956048"/>
            <a:ext cx="11274552" cy="1389888"/>
          </a:xfrm>
          <a:prstGeom prst="roundRect">
            <a:avLst>
              <a:gd name="adj" fmla="val 5263"/>
            </a:avLst>
          </a:prstGeom>
          <a:solidFill>
            <a:srgbClr val="1C2557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58368" y="506577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 HAS ALREADY RUN — TWICE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658368" y="5376672"/>
            <a:ext cx="3520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 STREET
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bonds $57m (’13) → $8.5bn (’20); $8.4bn revenue in H1’20 alone as the ETF–NAV basis blew out; &gt;$900bn client FI volume in ’25, 25k bonds priced, #1 in portfolio trading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379976" y="5376672"/>
            <a:ext cx="3520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CITADEL SECURITIES
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launch mid-’23 → $2bn/day and ~15% share of &gt;$5m long-dated blocks within 18 months; now selling bond pricing to banks and issuing tradeable bond baskets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101584" y="5376672"/>
            <a:ext cx="3520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PLAYBOOK
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 arbitrage → portfolio trading → RFQ singles → blocks + central risk book: a monotone path from maximum information overlap to maximum balance-sheet deployment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645566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SIFMA (outstanding 1Q26; TRACE ADV YTD Aug-26) · BIS (bond-ETF arbitrage; Mar-2020 bulletins) · Fed; Philadelphia Fed WP 26-27 · Coalition Greenwich · IFR, FT, company disclosures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E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112745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is not another strategy. It is another sensor</a:t>
            </a:r>
            <a:pPr algn="l" indent="0" marL="0">
              <a:buNone/>
            </a:pPr>
            <a:r>
              <a:rPr lang="en-US" sz="2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it reports first in a crisis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market is a noisy projection of the same economy. Credit plumbing adds channels — flows, baskets, bases, inventory — that stay open exactly when prices go dark.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3575304" cy="3520440"/>
          </a:xfrm>
          <a:prstGeom prst="roundRect">
            <a:avLst>
              <a:gd name="adj" fmla="val 2078"/>
            </a:avLst>
          </a:prstGeom>
          <a:solidFill>
            <a:srgbClr val="222C6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408176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14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WINDOWS, ONE COMPANY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792224"/>
            <a:ext cx="319125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Bond, CDS &amp; credit-ETF flow watch the same issuers through a different investor base and information-arrival process</a:t>
            </a:r>
            <a:endParaRPr lang="en-US" sz="10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price needs to be right: fuse hundreds of noisy observations into one latent fair value — cross-sectional inference at scale</a:t>
            </a:r>
            <a:endParaRPr lang="en-US" sz="10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bps of sharper fair value, applied across our equity &amp; options turnover, can rival the credit desk’s own P&amp;L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401568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fusion: one filter, many markets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3639312"/>
            <a:ext cx="1481328" cy="365760"/>
          </a:xfrm>
          <a:prstGeom prst="roundRect">
            <a:avLst>
              <a:gd name="adj" fmla="val 12500"/>
            </a:avLst>
          </a:prstGeom>
          <a:solidFill>
            <a:srgbClr val="161E4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" y="3639312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WINDOW
</a:t>
            </a:r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· options · index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58368" y="4096512"/>
            <a:ext cx="1481328" cy="365760"/>
          </a:xfrm>
          <a:prstGeom prst="roundRect">
            <a:avLst>
              <a:gd name="adj" fmla="val 12500"/>
            </a:avLst>
          </a:prstGeom>
          <a:solidFill>
            <a:srgbClr val="161E4B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" y="4096512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WINDOW
</a:t>
            </a:r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bonds · CDX · ETF flow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670048" y="3639312"/>
            <a:ext cx="1170432" cy="822960"/>
          </a:xfrm>
          <a:prstGeom prst="roundRect">
            <a:avLst>
              <a:gd name="adj" fmla="val 5556"/>
            </a:avLst>
          </a:prstGeom>
          <a:solidFill>
            <a:srgbClr val="161E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70048" y="3639312"/>
            <a:ext cx="1170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STATE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fair value,</a:t>
            </a:r>
            <a:endParaRPr lang="en-US" sz="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markets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57984" y="3822192"/>
            <a:ext cx="493776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157984" y="4279392"/>
            <a:ext cx="493776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658368" y="4517136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better quotes, every desk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06824" y="1261872"/>
            <a:ext cx="3575304" cy="3520440"/>
          </a:xfrm>
          <a:prstGeom prst="roundRect">
            <a:avLst>
              <a:gd name="adj" fmla="val 2078"/>
            </a:avLst>
          </a:prstGeom>
          <a:solidFill>
            <a:srgbClr val="222C6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07992" y="1408176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14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QUANTITIES LEAD PRICES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507992" y="1792224"/>
            <a:ext cx="319125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years of data: crises are credit booms gone bust, not equity bubbles (Schularick–Taylor, AER 2012)</a:t>
            </a:r>
            <a:endParaRPr lang="en-US" sz="10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 was legible in repo haircuts weeks before prices (Gorton–Metrick); Mar-’20 in ETF flow &amp; basis while bond marks printed stale</a:t>
            </a:r>
            <a:endParaRPr lang="en-US" sz="10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 hit-rates, AP baskets, bases, inventory — quantity channels that stay open when the price channel goes dark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07992" y="3474720"/>
            <a:ext cx="3172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600" dirty="0"/>
          </a:p>
        </p:txBody>
      </p:sp>
      <p:sp>
        <p:nvSpPr>
          <p:cNvPr id="21" name="Text 19"/>
          <p:cNvSpPr txBox="1"/>
          <p:nvPr/>
        </p:nvSpPr>
        <p:spPr>
          <a:xfrm>
            <a:off x="4507992" y="4133088"/>
            <a:ext cx="3172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a crisis within 3 years once rapid credit growth meets rising asset prices (Greenwood et al., JF 2022) — and it prints in credit first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156448" y="1261872"/>
            <a:ext cx="3575304" cy="3520440"/>
          </a:xfrm>
          <a:prstGeom prst="roundRect">
            <a:avLst>
              <a:gd name="adj" fmla="val 2078"/>
            </a:avLst>
          </a:prstGeom>
          <a:solidFill>
            <a:srgbClr val="222C6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57616" y="1408176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14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MATH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357616" y="1792224"/>
            <a:ext cx="319125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ROE understates value: enterprise return = desk P&amp;L + sharper pricing on equity/options/ETF flow + diversification</a:t>
            </a:r>
            <a:endParaRPr lang="en-US" sz="10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becomes an option set — decompose bond = rates + credit + liquidity + issuer; recycle risk via ETF create/redeem (BIS)</a:t>
            </a:r>
            <a:endParaRPr lang="en-US" sz="1050" dirty="0"/>
          </a:p>
          <a:p>
            <a:pPr algn="l" marL="127000" indent="-1270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flywheel: more markets → more observations → better quotes → more flow. The moat compounds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357616" y="3511296"/>
            <a:ext cx="3172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$8.4bn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8357616" y="4133088"/>
            <a:ext cx="3172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 Street trading revenue in H1 2020 alone — the plumbing owners were the best-informed and best-paid agents in the crisis (O’Hara–Zhou, JFE)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956048"/>
            <a:ext cx="11274552" cy="1389888"/>
          </a:xfrm>
          <a:prstGeom prst="roundRect">
            <a:avLst>
              <a:gd name="adj" fmla="val 5263"/>
            </a:avLst>
          </a:prstGeom>
          <a:solidFill>
            <a:srgbClr val="1C255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58368" y="506577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EVIDENCE, ON THE RECORD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58368" y="5376672"/>
            <a:ext cx="3520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
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growth is the single best crisis predictor across 14 countries and 140 years (Schularick–Taylor); intermediary capital is a priced state variable — bases read it in real time (He–Kelly–Manela)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379976" y="5376672"/>
            <a:ext cx="3520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— BIS &amp; FED
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Underlying-bond spreads run ~17× the credit ETF’s; AP baskets overlap holdings just 20–35%; flexible baskets buffered Mar-’20 fire sales (BIS). The Fed read — then bought — credit ETFs (SMCCF) as its real-time gauge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101584" y="5376672"/>
            <a:ext cx="3520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OUTCOME
</a:t>
            </a:r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Mar-’20, dealers pulled back while electronic &amp; portfolio-trading liquidity held up and captured historic premia (O’Hara–Zhou, JFE 2021). The ETF was the price; stale NAVs were the fiction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5566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Schularick &amp; Taylor (AER 2012) · Greenwood, Hanson, Shleifer &amp; Sørensen (JF 2022) · Gorton &amp; Metrick (JFE 2012) · He, Kelly &amp; Manela (JFE 2017) · O’Hara &amp; Zhou (JFE 2021) · BIS QR &amp; WP 975 · Federal Reserve (SMCCF)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2026-09-09T16:15:56Z</dcterms:created>
  <dcterms:modified xsi:type="dcterms:W3CDTF">2026-09-09T16:15:56Z</dcterms:modified>
</cp:coreProperties>
</file>