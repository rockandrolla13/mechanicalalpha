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HFT (concave)</c:v>
                </c:pt>
              </c:strCache>
            </c:strRef>
          </c:tx>
          <c:spPr>
            <a:solidFill>
              <a:srgbClr val="E8B84B"/>
            </a:solidFill>
            <a:ln w="31750" cap="flat">
              <a:solidFill>
                <a:srgbClr val="E8B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B84B"/>
              </a:solidFill>
              <a:ln w="9525" cap="flat">
                <a:solidFill>
                  <a:srgbClr val="E8B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52</c:v>
                </c:pt>
                <c:pt idx="2">
                  <c:v>76</c:v>
                </c:pt>
                <c:pt idx="3">
                  <c:v>88</c:v>
                </c:pt>
                <c:pt idx="4">
                  <c:v>95</c:v>
                </c:pt>
                <c:pt idx="5">
                  <c:v>98</c:v>
                </c:pt>
                <c:pt idx="6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(linear)</c:v>
                </c:pt>
              </c:strCache>
            </c:strRef>
          </c:tx>
          <c:spPr>
            <a:solidFill>
              <a:srgbClr val="7FA8E8"/>
            </a:solidFill>
            <a:ln w="31750" cap="flat">
              <a:solidFill>
                <a:srgbClr val="7FA8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A8E8"/>
              </a:solidFill>
              <a:ln w="9525" cap="flat">
                <a:solidFill>
                  <a:srgbClr val="7FA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13</c:v>
                </c:pt>
                <c:pt idx="2">
                  <c:v>26</c:v>
                </c:pt>
                <c:pt idx="3">
                  <c:v>39</c:v>
                </c:pt>
                <c:pt idx="4">
                  <c:v>52</c:v>
                </c:pt>
                <c:pt idx="5">
                  <c:v>65</c:v>
                </c:pt>
                <c:pt idx="6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2C63"/>
        </a:solidFill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22C63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(1) Lead with the decision metric — the desk is evaluated on enterprise marginal ROE, not desk ROE. (2) Walk the pipeline left to right: credit adds observation channels (RFQ flow, AP basket composition, CDS/CDX bases, funding/liquidity state) that no equity-only competitor has. (3) They feed one latent-state engine — hundreds of noisy observations, one filter — improving quotes, hedges, inventory economics and capacity firm-wide. (4) Crisis band: in normal times equity/options lead single-name credit (Merton channel — our franchise is already the informed side); in systemic stress the lead-lag inverts and credit/funding QUANTITIES lead all prices (Dang–Gorton–Holmström information-sensitivity regime switch). March 2020 is the proof: stale NAVs vs. live ETF prices; the Fed sided with the ETF price and bought through SMCCF; O’Hara–Zhou show electronic/PT liquidity was best-informed and best-paid — Jane Street’s $8.4bn H1’20 is the dollar version. If pressed on the 40%: it is P(crisis within 3 years) conditional on joint top-zone credit growth and asset-price growth — the Greenwood et al. R-zone, not an unconditional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objections 2 (Flow Traders control group), 4 (financing architecture, not asset selection, is the tail defense) and the figure definitions in the footnote to the point of boredom — these are the ones a technical ExCo member will test. The stage-gate close converts objections 2 and 3 into features: both failure modes are what the gates are designed to detect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where our next dollar of capital earns the most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we arrive with an information edge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ROE is high on average but ~zero at the margin; credit revenue is linear in balance sheet — and the seat banks vacated is being won by firms with exactly our skill 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MARGINAL ≠ AVERAGE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revenue is concave in capital — queue- and capacity-bound; the marginal dollar earns ≈ 0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revenue ≈ spread × turnover × balance sheet — linear at any entrant’s scale ($11.7tn market, ~$67bn ADV — SIFMA)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Low-correlation sleeve lifts firm Sharpe → cheaper leverage for every desk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723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capital deployed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3273552"/>
          <a:ext cx="311810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306824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07992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THE OPEN SEAT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07992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inventories down ~80% since ’08 while the market doubled (Basel III / SLR / G-SIB costs)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block: negative-NPV on a bank balance sheet, positive-NPV on ours — durable, not decaying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shifting to RFQ auto-quote, baskets, all-to-all — equity microstructure in a credit costume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07992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4507992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IG volume now trades electronically (vs. ⅓ in 2020); portfolio trading ≈ 18% of volume, ~80% of it electronic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156448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57616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WE START AHEAD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357616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vol surface hold the freshest estimate of latent firm value; bond marks print stale, hours late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create/redeem = signal, hedge &amp; inventory tool — baskets overlap holdings just 20–35% (BIS)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25k bonds off a factor model ≅ quoting a vol surface — the infrastructure transfers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</a:t>
            </a:r>
            <a:endParaRPr lang="en-US" sz="46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bid/ask on underlying bonds vs. the credit ETF (BIS) — price discovery happens on exchanges we already dominate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956048"/>
            <a:ext cx="11274552" cy="1389888"/>
          </a:xfrm>
          <a:prstGeom prst="roundRect">
            <a:avLst>
              <a:gd name="adj" fmla="val 5263"/>
            </a:avLst>
          </a:prstGeom>
          <a:solidFill>
            <a:srgbClr val="1C255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506577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HAS ALREADY RUN — TWICE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bonds $57m (’13) → $8.5bn (’20); $8.4bn revenue in H1’20 alone as the ETF–NAV basis blew out; &gt;$900bn client FI volume in ’25, 25k bonds priced, #1 in portfolio trading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379976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launch mid-’23 → $2bn/day and ~15% share of &gt;$5m long-dated blocks within 18 months; now selling bond pricing to banks and issuing tradeable bond baskets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101584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PLAYBOOK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arbitrage → portfolio trading → RFQ singles → blocks + central risk book: a monotone path from maximum information overlap to maximum balance-sheet deployment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SIFMA (outstanding 1Q26; TRACE ADV YTD Aug-26) · BIS (bond-ETF arbitrage; Mar-2020 bulletins) · Fed; Philadelphia Fed WP 26-27 · Coalition Greenwich · IFR, FT, company disclosures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not another strategy. It is another sensor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reports first in a crisis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observation channels feed one latent-state engine; the payoff lands firm-wide. Small pricing improvements compound across very high-volume products.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SIGNALS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2984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LATENT-STATE ENGINE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485632" y="12984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MONETIZATION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" y="157276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flow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RFQs, list trades, dealer prints — toxicity &amp; axes in real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" y="2203704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Credit-ETF primary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create/redeem direction + basket composition (AP discretion = information)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" y="2834640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· CDX · curves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&amp; sector risk premia; basis vs. cash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" y="3465576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regime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marks, inventory pressure, funding &amp; haircuts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85632" y="1572768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13648" y="1572768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quotes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tighter, faster equity + options fair values on covered issuers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85632" y="2203704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13648" y="2203704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hedges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cheapest risk decomposition across the capital structure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85632" y="283464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13648" y="2834640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recycling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→ decompose → recycle via ETF primary/secondary (BIS AP mechanism)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85632" y="3465576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222C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13648" y="3465576"/>
            <a:ext cx="2990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diversification</a:t>
            </a:r>
            <a:endParaRPr lang="en-US" sz="1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balance-sheet-linear revenue, uncorrelated with latency 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572768"/>
            <a:ext cx="3291840" cy="2423160"/>
          </a:xfrm>
          <a:prstGeom prst="roundRect">
            <a:avLst>
              <a:gd name="adj" fmla="val 3019"/>
            </a:avLst>
          </a:prstGeom>
          <a:solidFill>
            <a:srgbClr val="1C2557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1572768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STATE ESTIMATE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health · liquidity · crowding · fair value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P* = f(rates, credit, equity, ETF flow, options)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price needs to be right — hundreds of noisy observations, one filter, every desk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58184" y="2107692"/>
            <a:ext cx="62179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58184" y="3369564"/>
            <a:ext cx="62179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81544" y="2107692"/>
            <a:ext cx="649224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81544" y="3369564"/>
            <a:ext cx="649224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4169664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1C255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16966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FIRST IN A CRISIS   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are credit booms gone bust, not equity bubbles (Schularick–Taylor, 140 yrs); joint credit + price booms →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3-yr crisis odds (Greenwood et al., JF 2022). Quantities lead prices: repo haircuts flagged 2008 (Gorton–Metrick); ETF flow &amp; basis priced Mar-’20 while NAVs went stale — the Fed then bought the ETFs (SMCCF). These channels stay open when prices go dark.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010912"/>
            <a:ext cx="11274552" cy="475488"/>
          </a:xfrm>
          <a:prstGeom prst="roundRect">
            <a:avLst>
              <a:gd name="adj" fmla="val 15385"/>
            </a:avLst>
          </a:prstGeom>
          <a:solidFill>
            <a:srgbClr val="222C63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50109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METRIC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marginal ROE  =  credit P&amp;L  +  information dividend  +  inventory &amp; capital efficiency  +  diversification &amp; capacity — not desk ROE.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614416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1C255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85216" y="56144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(Todorov, 2021)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underlying-bond spreads ≈17× the ETF’s; baskets overlap holdings just 20–35%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9272" y="5614416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1C255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47288" y="56144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crises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Schularick–Taylor (AER 2012); Greenwood et al. (JF 2022) — the 40% R-zone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1344" y="5614416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1C255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56144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outcome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pulled back; electronic &amp; PT liquidity paid (O’Hara–Zhou, JFE); Jane Street H1’20: $8.4bn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43416" y="5614416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1C255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71432" y="5614416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FEDS 2020-097</a:t>
            </a:r>
            <a:endParaRPr lang="en-US" sz="9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arbitrage–liquidity spillovers, strongest in less-liquid bond ETFs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Schularick &amp; Taylor (AER 2012) · Greenwood, Hanson, Shleifer &amp; Sørensen (JF 2022) · Gorton &amp; Metrick (JFE 2012) · O’Hara &amp; Zhou (JFE 2021) · BIS QR (Todorov 2021), Bulletin 6 &amp; WP 975 · Federal Reserve FEDS 2020-097; SMCCF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Anticipated objections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where we land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 marginal HFT dollar earns zero, distribute the capital.”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comparison is credit vs. partners’ after-tax reinvestment rate, not vs. zero. Credit earns mid-teens plus a firm-level Sharpe lift that raises safe leverage and cheapens financing for every desk — value that accrues before the desk makes a dollar.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“Jane Street &amp; Citadel are survivorship bias — Flow Traders stagnated.”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Traders is the control group: it stopped at ETF arbitrage — no warehousing, no single-name pricing, no client franchise (revenue/employee now ~1/10th of Jane Street’s). The evidence specifies the execution requirement — build the full stack — and our stage gates encode exactly that.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“Three years too late; the basis alpha is competed away.”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Conceded on pure arb — hence the PT / RFQ / CRB weighting. RFQ is multi-dealer by construction: clients want competing responders, so a strong #3 non-bank is a franchise, unlike #3 in a latency race. The share donor is the banks: IG is only ~50% electronic and ADV is growing ~15% y/y (SIFMA).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“One credit cycle erases years of spread capture.”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hedged book leaves idiosyncratic + basis/liquidity risk; the historic killer of leveraged credit books is financing, not asset selection (Gorton–Metrick). Term funding, diversified counterparties and a stress-sized liquidity buffer are first-class in the design. In stress the desk is long the dislocation — the firms financed to stay were the ones paid (Jane Street, H1’20). The Sharpe cost is stated ex ante as a budget.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information externality is unfalsifiable.”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measure it: credit-derived features enter the equity/options fair-value models; out-of-sample markout improvement on covered vs. uncovered names, attributed quarterly. And the base case is underwritten without it — marginal capital economics and the open structural seat carry the plan alone.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Fed backstop caps crisis alpha; NBFI regulation closes the reg-arb.”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E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SMCCF truncates the asset tail (helps a warehousing book) and is exercised through the pipes we’d own; 2022 (LDI) and 2023 (SVB) dislocated with no corporate backstop. Regulatory convergence attacks one of three legs and moves slowly; the technology and information gap — where the franchise actually lives — survives it. Banks had the balance sheet all along and still lost the flow.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t">
                    <a:lnL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61E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3492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C255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" y="5349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ANSWER   </a:t>
            </a:r>
            <a:pPr algn="l" indent="0" marL="0">
              <a:buNone/>
            </a:pPr>
            <a:r>
              <a:rPr lang="en-US" sz="10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 — ETF arbitrage → portfolio trading → RFQ singles → blocks + CRB — each with explicit graduation metrics and a kill criterion. The committee is asked to underwrite the next gate, not the end state.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1447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cited: Greenwood et al. 40% = P(crisis within 3 yrs | joint top-zone credit growth and asset-price growth) · ~80% inventory decline = post-2013 primary dealer corporate positions vs. pre-crisis peaks (pre-2013 Fed series includes some non-corporate paper — hence “estimated”) · 17× = BIS spread ratio, corporate-bond-ETF holdings vs. ETF shares, study sample period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Schularick, M. &amp; Taylor, A.M. (2012), “Credit Booms Gone Bust: Monetary Policy, Leverage Cycles, and Financial Crises, 1870–2008,” American Economic Review 102(2)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Greenwood, R., Hanson, S.G., Shleifer, A. &amp; Sørensen, J.A. (2022), “Predictable Financial Crises,” Journal of Finance 77(2)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Gorton, G. &amp; Metrick, A. (2012), “Securitized Banking and the Run on Repo,” Journal of Financial Economics 104(3)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Dang, T.V., Gorton, G. &amp; Holmström, B. (2020), “The Information View of Financial Crises,” Annual Review of Financial Economics 12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Z., Kelly, B. &amp; Manela, A. (2017), “Intermediary Asset Pricing: New Evidence from Many Asset Classes,” Journal of Financial Economics 126(1)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O’Hara, M. &amp; Zhou, X.A. (2021), “Anatomy of a Liquidity Crisis: Corporate Bonds in the COVID-19 Crisis,” Journal of Financial Economics 142(1)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O’Hara, M. &amp; Zhou, X.A. (2021), “The Electronic Evolution of Corporate Bond Dealers,” Journal of Financial Economics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Kargar, M., Lester, B., Üslü, S. &amp; Weill, P.-O. (2026), “The Evolution of the Corporate Bond Market: A Theoretical Analysis,” FRB Philadelphia WP 26-27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Lead–lag (equity/options → credit): Kwan (1996) JFE; Collin-Dufresne, Goldstein &amp; Martin (2001) JF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06824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07992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Todorov, K. (2021), “The Anatomy of Bond ETF Arbitrage,” BIS Quarterly Review, March — 17× spread ratio; 20–35% basket overlap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Aramonte, S. &amp; Avalos, F. (2020), “The Recent Distress in Corporate Bond Markets: Cues from ETFs,” BIS Bulletin No. 6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Shim, J.J. &amp; Todorov, K. (2021), “ETFs, Illiquid Assets, and Fire Sales,” BIS Working Paper No. 975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Governors, FEDS 2020-097, “Arbitrage and Liquidity: Evidence from a Panel of Exchange Traded Funds”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(2020), Secondary Market Corporate Credit Facility (SMCCF) — term sheet &amp; transaction disclosures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SIFMA Research, US Corporate Bonds Statistics — outstanding $11.7tn (1Q26); ADV $66.9bn YTD Aug-26, +15.3% y/y (TRACE)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FRB New York, Primary Dealer Statistics — corporate inventory series (basis of the ~80% decline estimate)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Greenwich, corporate bond market structure research — electronic share ~50% of IG; portfolio trading volumes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56448" y="868680"/>
            <a:ext cx="3575304" cy="5440680"/>
          </a:xfrm>
          <a:prstGeom prst="roundRect">
            <a:avLst>
              <a:gd name="adj" fmla="val 2046"/>
            </a:avLst>
          </a:prstGeom>
          <a:solidFill>
            <a:srgbClr val="222C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7616" y="10149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RECORD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380744"/>
            <a:ext cx="3191256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Capital LLC, SEC Form X-17A-5 (2013–2020) — corporate bond positions $57m → $8.5bn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Times / IFR reporting (2020–2025) — Jane Street H1’20 revenue $8.4bn; 2024 revenue ~$20bn; “Jane Street Is Beating Banks at Their Own Game” (IFR, 2023)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(2019), “Credit ETF Trading in Stressed Markets” — AP mechanics; information-sensitivity of bond value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client disclosures (2025) — &gt;$900bn client fixed income volume; 25,000+ bonds priced; portfolio trading leadership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(Jun 2023), “Citadel Securities Is Muscling Its Way Into Credit Trading” — IG launch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 to IFR (2025) — $2bn/day corporate bonds; ~15% share of blocks &gt;$5m, &gt;7yr maturity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(Apr 2025), “Citadel Securities Pitches Banks on Handling Their Bond Trades”</a:t>
            </a:r>
            <a:endParaRPr lang="en-US" sz="850" dirty="0"/>
          </a:p>
          <a:p>
            <a:pPr algn="l" marL="101600" indent="-1016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(Nov 2025), “Citadel Securities Launches AI Bond Trading Baskets”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citations compiled for internal discussion; page/volume details to be finalized in the written business case.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2026-09-09T17:04:31Z</dcterms:created>
  <dcterms:modified xsi:type="dcterms:W3CDTF">2026-09-09T17:04:31Z</dcterms:modified>
</cp:coreProperties>
</file>