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HFT (concave)</c:v>
                </c:pt>
              </c:strCache>
            </c:strRef>
          </c:tx>
          <c:spPr>
            <a:solidFill>
              <a:srgbClr val="E8B84B"/>
            </a:solidFill>
            <a:ln w="31750" cap="flat">
              <a:solidFill>
                <a:srgbClr val="E8B8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B84B"/>
              </a:solidFill>
              <a:ln w="9525" cap="flat">
                <a:solidFill>
                  <a:srgbClr val="E8B8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/>
                  </c:pt>
                  <c:pt idx="1">
                    <c:v> </c:v>
                  </c:pt>
                  <c:pt idx="2">
                    <c:v>  </c:v>
                  </c:pt>
                  <c:pt idx="3">
                    <c:v>   </c:v>
                  </c:pt>
                  <c:pt idx="4">
                    <c:v>    </c:v>
                  </c:pt>
                  <c:pt idx="5">
                    <c:v>     </c:v>
                  </c:pt>
                  <c:pt idx="6">
                    <c:v>      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52</c:v>
                </c:pt>
                <c:pt idx="2">
                  <c:v>76</c:v>
                </c:pt>
                <c:pt idx="3">
                  <c:v>88</c:v>
                </c:pt>
                <c:pt idx="4">
                  <c:v>95</c:v>
                </c:pt>
                <c:pt idx="5">
                  <c:v>98</c:v>
                </c:pt>
                <c:pt idx="6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Credit (linear)</c:v>
                </c:pt>
              </c:strCache>
            </c:strRef>
          </c:tx>
          <c:spPr>
            <a:solidFill>
              <a:srgbClr val="7FA8E8"/>
            </a:solidFill>
            <a:ln w="31750" cap="flat">
              <a:solidFill>
                <a:srgbClr val="7FA8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A8E8"/>
              </a:solidFill>
              <a:ln w="9525" cap="flat">
                <a:solidFill>
                  <a:srgbClr val="7FA8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/>
                  </c:pt>
                  <c:pt idx="1">
                    <c:v> </c:v>
                  </c:pt>
                  <c:pt idx="2">
                    <c:v>  </c:v>
                  </c:pt>
                  <c:pt idx="3">
                    <c:v>   </c:v>
                  </c:pt>
                  <c:pt idx="4">
                    <c:v>    </c:v>
                  </c:pt>
                  <c:pt idx="5">
                    <c:v>     </c:v>
                  </c:pt>
                  <c:pt idx="6">
                    <c:v>      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13</c:v>
                </c:pt>
                <c:pt idx="2">
                  <c:v>26</c:v>
                </c:pt>
                <c:pt idx="3">
                  <c:v>39</c:v>
                </c:pt>
                <c:pt idx="4">
                  <c:v>52</c:v>
                </c:pt>
                <c:pt idx="5">
                  <c:v>65</c:v>
                </c:pt>
                <c:pt idx="6">
                  <c:v>78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22C63"/>
        </a:solidFill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22C63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speaker notes: (1) Normal times: equity/options lead single-name credit (Merton channel) — our existing franchise is the informed side. (2) Systemic stress: the lead-lag inverts — credit and funding QUANTITIES lead all prices. Dang–Gorton–Holmström: debt is designed to be information-insensitive; a crisis is the regime switch to information-sensitivity, and it shows up first in haircuts, baskets, bases and inventory — channels only plumbing owners observe. (3) March 2020 is the proof: stale NAVs vs. live ETF prices; the Fed sided with the ETF price and bought through SMCCF; O’Hara–Zhou show electronic/PT liquidity was best-informed and best-paid. (4) Implication: judge the desk on enterprise marginal ROE — its information externality to equities/options/ETF pricing plus its role as the firm’s early-warning system in exactly the states where every other desk’s risk model is most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objections 2 (Flow Traders control group), 4 (financing architecture, not asset selection, is the tail defense) and the figure definitions in the footnote to the point of boredom — these are the ones a technical ExCo member will test. The stage-gate close converts objections 2 and 3 into features: both failure modes are what the gates are designed to detect cheaply.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is where our next dollar of capital earns the most</a:t>
            </a:r>
            <a:pPr algn="l"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we arrive with an information edge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 ROE is high on average but ~zero at the margin; credit revenue is linear in balance sheet — and the seat banks vacated is being won by firms with exactly our skill set.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CAPITAL: MARGINAL ≠ AVERAGE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792224"/>
            <a:ext cx="31912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 revenue is concave in capital — queue- and capacity-bound; the marginal dollar earns ≈ 0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revenue ≈ spread × turnover × balance sheet — linear at any entrant’s scale ($11.7tn market, ~$67bn ADV — SIFMA)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Low-correlation sleeve lifts firm Sharpe → cheaper leverage for every desk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07238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capital deployed</a:t>
            </a:r>
            <a:endParaRPr lang="en-US" sz="8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3273552"/>
          <a:ext cx="3118104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306824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07992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THE OPEN SEAT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4507992" y="1792224"/>
            <a:ext cx="31912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inventories down ~80% since ’08 while the market doubled (Basel III / SLR / G-SIB costs)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block: negative-NPV on a bank balance sheet, positive-NPV on ours — durable, not decaying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shifting to RFQ auto-quote, baskets, all-to-all — equity microstructure in a credit costume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07992" y="347472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4507992" y="413308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IG volume now trades electronically (vs. ⅓ in 2020); portfolio trading ≈ 18% of volume, ~80% of it electronic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156448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57616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INFORMATION: WE START AHEAD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357616" y="1792224"/>
            <a:ext cx="31912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vol surface hold the freshest estimate of latent firm value; bond marks print stale, hours late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create/redeem = signal, hedge &amp; inventory tool — baskets overlap holdings just 20–35% (BIS)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25k bonds off a factor model ≅ quoting a vol surface — the infrastructure transfers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357616" y="347472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17×</a:t>
            </a:r>
            <a:endParaRPr lang="en-US" sz="4600" dirty="0"/>
          </a:p>
        </p:txBody>
      </p:sp>
      <p:sp>
        <p:nvSpPr>
          <p:cNvPr id="18" name="Text 15"/>
          <p:cNvSpPr txBox="1"/>
          <p:nvPr/>
        </p:nvSpPr>
        <p:spPr>
          <a:xfrm>
            <a:off x="8357616" y="413308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bid/ask on underlying bonds vs. the credit ETF (BIS) — price discovery happens on exchanges we already dominate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4956048"/>
            <a:ext cx="11274552" cy="1389888"/>
          </a:xfrm>
          <a:prstGeom prst="roundRect">
            <a:avLst>
              <a:gd name="adj" fmla="val 5263"/>
            </a:avLst>
          </a:prstGeom>
          <a:solidFill>
            <a:srgbClr val="1C255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8368" y="506577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HAS ALREADY RUN — TWICE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STREET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bonds $57m (’13) → $8.5bn (’20); $8.4bn revenue in H1’20 alone as the ETF–NAV basis blew out; &gt;$900bn client FI volume in ’25, 25k bonds priced, #1 in portfolio trading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379976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 SECURITIES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launch mid-’23 → $2bn/day and ~15% share of &gt;$5m long-dated blocks within 18 months; now selling bond pricing to banks and issuing tradeable bond baskets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101584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PLAYBOOK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arbitrage → portfolio trading → RFQ singles → blocks + central risk book: a monotone path from maximum information overlap to maximum balance-sheet deployment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5566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SIFMA (outstanding 1Q26; TRACE ADV YTD Aug-26) · BIS (bond-ETF arbitrage; Mar-2020 bulletins) · Fed; Philadelphia Fed WP 26-27 · Coalition Greenwich · IFR, FT, company disclosures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is not another strategy. It is another sensor</a:t>
            </a:r>
            <a:pPr algn="l"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 reports first in a crisis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market is a noisy projection of the same economy. Credit plumbing adds channels — flows, baskets, bases, inventory — that stay open exactly when prices go dark.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WINDOWS, ONE COMPANY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792224"/>
            <a:ext cx="31912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Bond, CDS &amp; credit-ETF flow watch the same issuers through a different investor base and information-arrival process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price needs to be right: fuse hundreds of noisy observations into one latent fair value — cross-sectional inference at scale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bps of sharper fair value, applied across our equity &amp; options turnover, can rival the credit desk’s own P&amp;L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40156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fusion: one filter, many markets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3639312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161E4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363931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WINDOW
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· options · index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58368" y="4096512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161E4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409651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WINDOW
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· CDX · ETF flow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70048" y="3639312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161E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0048" y="363931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STATE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fair value,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markets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57984" y="3822192"/>
            <a:ext cx="493776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57984" y="4279392"/>
            <a:ext cx="493776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58368" y="451713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better quotes, every desk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06824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07992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LEAD PRICES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07992" y="1792224"/>
            <a:ext cx="31912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years of data: crises are credit booms gone bust, not equity bubbles (Schularick–Taylor, AER 2012)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was legible in repo haircuts weeks before prices (Gorton–Metrick); Mar-’20 in ETF flow &amp; basis while bond marks printed stale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hit-rates, AP baskets, bases, inventory — quantity channels that stay open when the price channel goes dark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07992" y="347472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4507992" y="4133088"/>
            <a:ext cx="3172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a crisis within 3 years once rapid credit growth meets rising asset prices (Greenwood et al., JF 2022) — and it prints in credit first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56448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57616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MATH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57616" y="1792224"/>
            <a:ext cx="31912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ROE understates value: enterprise return = desk P&amp;L + sharper pricing on equity/options/ETF flow + diversification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becomes an option set — decompose bond = rates + credit + liquidity + issuer; recycle risk via ETF create/redeem (BIS)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flywheel: more markets → more observations → better quotes → more flow. The moat compounds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57616" y="3511296"/>
            <a:ext cx="3172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$8.4bn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357616" y="4133088"/>
            <a:ext cx="3172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Street trading revenue in H1 2020 alone — the plumbing owners were the best-informed and best-paid agents in the crisis (O’Hara–Zhou, JFE)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956048"/>
            <a:ext cx="11274552" cy="1389888"/>
          </a:xfrm>
          <a:prstGeom prst="roundRect">
            <a:avLst>
              <a:gd name="adj" fmla="val 5263"/>
            </a:avLst>
          </a:prstGeom>
          <a:solidFill>
            <a:srgbClr val="1C255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506577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EVIDENCE, ON THE RECORD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growth is the single best crisis predictor across 14 countries and 140 years (Schularick–Taylor); intermediary capital is a priced state variable — bases read it in real time (He–Kelly–Manela)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379976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— BIS &amp; FED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Underlying-bond spreads run ~17× the credit ETF’s; AP baskets overlap holdings just 20–35%; flexible baskets buffered Mar-’20 fire sales (BIS). The Fed read — then bought — credit ETFs (SMCCF) as its real-time gauge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101584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OUTCOME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Mar-’20, dealers pulled back while electronic &amp; portfolio-trading liquidity held up and captured historic premia (O’Hara–Zhou, JFE 2021). The ETF was the price; stale NAVs were the fiction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5566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Schularick &amp; Taylor (AER 2012) · Greenwood, Hanson, Shleifer &amp; Sørensen (JF 2022) · Gorton &amp; Metrick (JFE 2012) · He, Kelly &amp; Manela (JFE 2017) · O’Hara &amp; Zhou (JFE 2021) · BIS QR &amp; WP 975 · Federal Reserve (SMCCF)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Anticipated objections</a:t>
            </a:r>
            <a:pPr algn="l"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where we land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41248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5703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“If the marginal HFT dollar earns zero, distribute the capital.”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comparison is credit vs. partners’ after-tax reinvestment rate, not vs. zero. Credit earns mid-teens plus a firm-level Sharpe lift that raises safe leverage and cheapens financing for every desk — value that accrues before the desk makes a dollar.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“Jane Street &amp; Citadel are survivorship bias — Flow Traders stagnated.”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Traders is the control group: it stopped at ETF arbitrage — no warehousing, no single-name pricing, no client franchise (revenue/employee now ~1/10th of Jane Street’s). The evidence specifies the execution requirement — build the full stack — and our stage gates encode exactly that.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“Three years too late; the basis alpha is competed away.”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Conceded on pure arb — hence the PT / RFQ / CRB weighting. RFQ is multi-dealer by construction: clients want competing responders, so a strong #3 non-bank is a franchise, unlike #3 in a latency race. The share donor is the banks: IG is only ~50% electronic and ADV is growing ~15% y/y (SIFMA).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“One credit cycle erases years of spread capture.”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hedged book leaves idiosyncratic + basis/liquidity risk; the historic killer of leveraged credit books is financing, not asset selection (Gorton–Metrick). Term funding, diversified counterparties and a stress-sized liquidity buffer are first-class in the design. In stress the desk is long the dislocation — the firms financed to stay were the ones paid (Jane Street, H1’20). The Sharpe cost is stated ex ante as a budget.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information externality is unfalsifiable.”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measure it: credit-derived features enter the equity/options fair-value models; out-of-sample markout improvement on covered vs. uncovered names, attributed quarterly. And the base case is underwritten without it — marginal capital economics and the open structural seat carry the plan alone.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Fed backstop caps crisis alpha; NBFI regulation closes the reg-arb.”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SMCCF truncates the asset tail (helps a warehousing book) and is exercised through the pipes we’d own; 2022 (LDI) and 2023 (SVB) dislocated with no corporate backstop. Regulatory convergence attacks one of three legs and moves slowly; the technology and information gap — where the franchise actually lives — survives it. Banks had the balance sheet all along and still lost the flow.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534924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C255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8368" y="5349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ANSWER   </a:t>
            </a:r>
            <a:pPr algn="l" indent="0" marL="0">
              <a:buNone/>
            </a:pPr>
            <a:r>
              <a:rPr lang="en-US" sz="10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 — ETF arbitrage → portfolio trading → RFQ singles → blocks + CRB — each with explicit graduation metrics and a kill criterion. The committee is asked to underwrite the next gate, not the end state.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14476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cited: Greenwood et al. 40% = P(crisis within 3 yrs | joint top-zone credit growth and asset-price growth) · ~80% inventory decline = post-2013 primary dealer corporate positions vs. pre-crisis peaks (pre-2013 Fed series includes some non-corporate paper — hence “estimated”) · 17× = BIS spread ratio, corporate-bond-ETF holdings vs. ETF shares, study sample period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575304" cy="5440680"/>
          </a:xfrm>
          <a:prstGeom prst="roundRect">
            <a:avLst>
              <a:gd name="adj" fmla="val 2046"/>
            </a:avLst>
          </a:prstGeom>
          <a:solidFill>
            <a:srgbClr val="222C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01498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80744"/>
            <a:ext cx="3191256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Schularick, M. &amp; Taylor, A.M. (2012), “Credit Booms Gone Bust: Monetary Policy, Leverage Cycles, and Financial Crises, 1870–2008,” American Economic Review 102(2)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Greenwood, R., Hanson, S.G., Shleifer, A. &amp; Sørensen, J.A. (2022), “Predictable Financial Crises,” Journal of Finance 77(2)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Gorton, G. &amp; Metrick, A. (2012), “Securitized Banking and the Run on Repo,” Journal of Financial Economics 104(3)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Dang, T.V., Gorton, G. &amp; Holmström, B. (2020), “The Information View of Financial Crises,” Annual Review of Financial Economics 12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Z., Kelly, B. &amp; Manela, A. (2017), “Intermediary Asset Pricing: New Evidence from Many Asset Classes,” Journal of Financial Economics 126(1)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O’Hara, M. &amp; Zhou, X.A. (2021), “Anatomy of a Liquidity Crisis: Corporate Bonds in the COVID-19 Crisis,” Journal of Financial Economics 142(1)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O’Hara, M. &amp; Zhou, X.A. (2021), “The Electronic Evolution of Corporate Bond Dealers,” Journal of Financial Economics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Kargar, M., Lester, B., Üslü, S. &amp; Weill, P.-O. (2026), “The Evolution of the Corporate Bond Market: A Theoretical Analysis,” FRB Philadelphia WP 26-27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Lead–lag (equity/options → credit): Kwan (1996) JFE; Collin-Dufresne, Goldstein &amp; Martin (2001) JF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306824" y="868680"/>
            <a:ext cx="3575304" cy="5440680"/>
          </a:xfrm>
          <a:prstGeom prst="roundRect">
            <a:avLst>
              <a:gd name="adj" fmla="val 2046"/>
            </a:avLst>
          </a:prstGeom>
          <a:solidFill>
            <a:srgbClr val="222C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07992" y="101498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DATA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07992" y="1380744"/>
            <a:ext cx="3191256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Todorov, K. (2021), “The Anatomy of Bond ETF Arbitrage,” BIS Quarterly Review, March — 17× spread ratio; 20–35% basket overlap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Aramonte, S. &amp; Avalos, F. (2020), “The Recent Distress in Corporate Bond Markets: Cues from ETFs,” BIS Bulletin No. 6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Shim, J.J. &amp; Todorov, K. (2021), “ETFs, Illiquid Assets, and Fire Sales,” BIS Working Paper No. 975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Governors, FEDS series, “Arbitrage and Liquidity: Evidence from a Panel of Exchange Traded Funds”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 (2020), Secondary Market Corporate Credit Facility (SMCCF) — term sheet &amp; transaction disclosures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SIFMA Research, US Corporate Bonds Statistics — outstanding $11.7tn (1Q26); ADV $66.9bn YTD Aug-26, +15.3% y/y (TRACE)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FRB New York, Primary Dealer Statistics — corporate inventory series (basis of the ~80% decline estimate)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Coalition Greenwich, corporate bond market structure research — electronic share ~50% of IG; portfolio trading volumes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156448" y="868680"/>
            <a:ext cx="3575304" cy="5440680"/>
          </a:xfrm>
          <a:prstGeom prst="roundRect">
            <a:avLst>
              <a:gd name="adj" fmla="val 2046"/>
            </a:avLst>
          </a:prstGeom>
          <a:solidFill>
            <a:srgbClr val="222C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57616" y="101498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RECORD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1380744"/>
            <a:ext cx="3191256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Street Capital LLC, SEC Form X-17A-5 (2013–2020) — corporate bond positions $57m → $8.5bn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Times / IFR reporting (2020–2025) — Jane Street H1’20 revenue $8.4bn; 2024 revenue ~$20bn; “Jane Street Is Beating Banks at Their Own Game” (IFR, 2023)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Street (2019), “Credit ETF Trading in Stressed Markets” — AP mechanics; information-sensitivity of bond value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Street client disclosures (2025) — &gt;$900bn client fixed income volume; 25,000+ bonds priced; portfolio trading leadership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(Jun 2023), “Citadel Securities Is Muscling Its Way Into Credit Trading” — IG launch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 Securities to IFR (2025) — $2bn/day corporate bonds; ~15% share of blocks &gt;$5m, &gt;7yr maturity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(Apr 2025), “Citadel Securities Pitches Banks on Handling Their Bond Trades”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(Nov 2025), “Citadel Securities Launches AI Bond Trading Baskets”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citations compiled for internal discussion; page/volume details to be finalized in the written business case.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2026-09-09T16:37:49Z</dcterms:created>
  <dcterms:modified xsi:type="dcterms:W3CDTF">2026-09-09T16:37:49Z</dcterms:modified>
</cp:coreProperties>
</file>